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F9D448-3A7A-481D-857B-A4756B465AB2}" v="50" dt="2025-11-21T08:24:33.8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SIYADEVI A" userId="1db4a747b80733f9" providerId="LiveId" clId="{613B7479-9F7D-45E7-952B-1F49DB3B7CB1}"/>
    <pc:docChg chg="custSel addSld modSld">
      <pc:chgData name="ANUSIYADEVI A" userId="1db4a747b80733f9" providerId="LiveId" clId="{613B7479-9F7D-45E7-952B-1F49DB3B7CB1}" dt="2025-11-21T08:24:40.817" v="344" actId="12"/>
      <pc:docMkLst>
        <pc:docMk/>
      </pc:docMkLst>
      <pc:sldChg chg="modSp new mod">
        <pc:chgData name="ANUSIYADEVI A" userId="1db4a747b80733f9" providerId="LiveId" clId="{613B7479-9F7D-45E7-952B-1F49DB3B7CB1}" dt="2025-11-21T08:00:13.857" v="36" actId="14100"/>
        <pc:sldMkLst>
          <pc:docMk/>
          <pc:sldMk cId="1839340458" sldId="260"/>
        </pc:sldMkLst>
        <pc:spChg chg="mod">
          <ac:chgData name="ANUSIYADEVI A" userId="1db4a747b80733f9" providerId="LiveId" clId="{613B7479-9F7D-45E7-952B-1F49DB3B7CB1}" dt="2025-11-21T08:00:07.210" v="35" actId="14100"/>
          <ac:spMkLst>
            <pc:docMk/>
            <pc:sldMk cId="1839340458" sldId="260"/>
            <ac:spMk id="2" creationId="{0D4E6B32-30D0-0880-CF8C-BC0E797B2323}"/>
          </ac:spMkLst>
        </pc:spChg>
        <pc:spChg chg="mod">
          <ac:chgData name="ANUSIYADEVI A" userId="1db4a747b80733f9" providerId="LiveId" clId="{613B7479-9F7D-45E7-952B-1F49DB3B7CB1}" dt="2025-11-21T08:00:13.857" v="36" actId="14100"/>
          <ac:spMkLst>
            <pc:docMk/>
            <pc:sldMk cId="1839340458" sldId="260"/>
            <ac:spMk id="3" creationId="{E590E922-492C-17DC-65D6-A6D5E7959AEF}"/>
          </ac:spMkLst>
        </pc:spChg>
      </pc:sldChg>
      <pc:sldChg chg="addSp delSp modSp new mod">
        <pc:chgData name="ANUSIYADEVI A" userId="1db4a747b80733f9" providerId="LiveId" clId="{613B7479-9F7D-45E7-952B-1F49DB3B7CB1}" dt="2025-11-21T08:03:35.969" v="93" actId="12"/>
        <pc:sldMkLst>
          <pc:docMk/>
          <pc:sldMk cId="3650590368" sldId="261"/>
        </pc:sldMkLst>
        <pc:spChg chg="mod">
          <ac:chgData name="ANUSIYADEVI A" userId="1db4a747b80733f9" providerId="LiveId" clId="{613B7479-9F7D-45E7-952B-1F49DB3B7CB1}" dt="2025-11-21T08:02:00.749" v="58" actId="14100"/>
          <ac:spMkLst>
            <pc:docMk/>
            <pc:sldMk cId="3650590368" sldId="261"/>
            <ac:spMk id="2" creationId="{9806730B-A375-7FDA-EE2B-FC1F6C8C38AB}"/>
          </ac:spMkLst>
        </pc:spChg>
        <pc:spChg chg="del">
          <ac:chgData name="ANUSIYADEVI A" userId="1db4a747b80733f9" providerId="LiveId" clId="{613B7479-9F7D-45E7-952B-1F49DB3B7CB1}" dt="2025-11-21T08:00:31.238" v="37"/>
          <ac:spMkLst>
            <pc:docMk/>
            <pc:sldMk cId="3650590368" sldId="261"/>
            <ac:spMk id="3" creationId="{A925AB4B-365C-8883-1098-015BD7A9566A}"/>
          </ac:spMkLst>
        </pc:spChg>
        <pc:spChg chg="add mod">
          <ac:chgData name="ANUSIYADEVI A" userId="1db4a747b80733f9" providerId="LiveId" clId="{613B7479-9F7D-45E7-952B-1F49DB3B7CB1}" dt="2025-11-21T08:03:35.969" v="93" actId="12"/>
          <ac:spMkLst>
            <pc:docMk/>
            <pc:sldMk cId="3650590368" sldId="261"/>
            <ac:spMk id="7" creationId="{45D29B33-73A5-4206-7FD6-21DF435847F4}"/>
          </ac:spMkLst>
        </pc:spChg>
        <pc:graphicFrameChg chg="add del mod modGraphic">
          <ac:chgData name="ANUSIYADEVI A" userId="1db4a747b80733f9" providerId="LiveId" clId="{613B7479-9F7D-45E7-952B-1F49DB3B7CB1}" dt="2025-11-21T08:02:09.521" v="61" actId="478"/>
          <ac:graphicFrameMkLst>
            <pc:docMk/>
            <pc:sldMk cId="3650590368" sldId="261"/>
            <ac:graphicFrameMk id="4" creationId="{DA9BD4CE-2288-92B7-BFBB-D99D9BC3DEDE}"/>
          </ac:graphicFrameMkLst>
        </pc:graphicFrameChg>
        <pc:graphicFrameChg chg="add mod">
          <ac:chgData name="ANUSIYADEVI A" userId="1db4a747b80733f9" providerId="LiveId" clId="{613B7479-9F7D-45E7-952B-1F49DB3B7CB1}" dt="2025-11-21T08:00:36.548" v="38"/>
          <ac:graphicFrameMkLst>
            <pc:docMk/>
            <pc:sldMk cId="3650590368" sldId="261"/>
            <ac:graphicFrameMk id="5" creationId="{1657D56B-E8FF-E8E9-4986-46E125E9533E}"/>
          </ac:graphicFrameMkLst>
        </pc:graphicFrameChg>
      </pc:sldChg>
      <pc:sldChg chg="modSp new mod">
        <pc:chgData name="ANUSIYADEVI A" userId="1db4a747b80733f9" providerId="LiveId" clId="{613B7479-9F7D-45E7-952B-1F49DB3B7CB1}" dt="2025-11-21T08:10:33.768" v="123" actId="12"/>
        <pc:sldMkLst>
          <pc:docMk/>
          <pc:sldMk cId="2498006446" sldId="262"/>
        </pc:sldMkLst>
        <pc:spChg chg="mod">
          <ac:chgData name="ANUSIYADEVI A" userId="1db4a747b80733f9" providerId="LiveId" clId="{613B7479-9F7D-45E7-952B-1F49DB3B7CB1}" dt="2025-11-21T08:04:56.051" v="106" actId="14100"/>
          <ac:spMkLst>
            <pc:docMk/>
            <pc:sldMk cId="2498006446" sldId="262"/>
            <ac:spMk id="2" creationId="{C1ADBCBC-F544-EC80-6EF6-2494EC1A3396}"/>
          </ac:spMkLst>
        </pc:spChg>
        <pc:spChg chg="mod">
          <ac:chgData name="ANUSIYADEVI A" userId="1db4a747b80733f9" providerId="LiveId" clId="{613B7479-9F7D-45E7-952B-1F49DB3B7CB1}" dt="2025-11-21T08:10:33.768" v="123" actId="12"/>
          <ac:spMkLst>
            <pc:docMk/>
            <pc:sldMk cId="2498006446" sldId="262"/>
            <ac:spMk id="3" creationId="{81754A11-CAC4-F71B-ECA6-67CC5482939A}"/>
          </ac:spMkLst>
        </pc:spChg>
      </pc:sldChg>
      <pc:sldChg chg="modSp new mod">
        <pc:chgData name="ANUSIYADEVI A" userId="1db4a747b80733f9" providerId="LiveId" clId="{613B7479-9F7D-45E7-952B-1F49DB3B7CB1}" dt="2025-11-21T08:13:02.324" v="218" actId="12"/>
        <pc:sldMkLst>
          <pc:docMk/>
          <pc:sldMk cId="1727158646" sldId="263"/>
        </pc:sldMkLst>
        <pc:spChg chg="mod">
          <ac:chgData name="ANUSIYADEVI A" userId="1db4a747b80733f9" providerId="LiveId" clId="{613B7479-9F7D-45E7-952B-1F49DB3B7CB1}" dt="2025-11-21T08:11:27.678" v="132" actId="14100"/>
          <ac:spMkLst>
            <pc:docMk/>
            <pc:sldMk cId="1727158646" sldId="263"/>
            <ac:spMk id="2" creationId="{E64C7946-F45D-DBD6-77D9-9102D017F5D6}"/>
          </ac:spMkLst>
        </pc:spChg>
        <pc:spChg chg="mod">
          <ac:chgData name="ANUSIYADEVI A" userId="1db4a747b80733f9" providerId="LiveId" clId="{613B7479-9F7D-45E7-952B-1F49DB3B7CB1}" dt="2025-11-21T08:13:02.324" v="218" actId="12"/>
          <ac:spMkLst>
            <pc:docMk/>
            <pc:sldMk cId="1727158646" sldId="263"/>
            <ac:spMk id="3" creationId="{1D3C2684-2E8E-AF8D-A230-F9F0C6ABDD4A}"/>
          </ac:spMkLst>
        </pc:spChg>
      </pc:sldChg>
      <pc:sldChg chg="modSp new mod">
        <pc:chgData name="ANUSIYADEVI A" userId="1db4a747b80733f9" providerId="LiveId" clId="{613B7479-9F7D-45E7-952B-1F49DB3B7CB1}" dt="2025-11-21T08:15:16.164" v="240" actId="14100"/>
        <pc:sldMkLst>
          <pc:docMk/>
          <pc:sldMk cId="851116308" sldId="264"/>
        </pc:sldMkLst>
        <pc:spChg chg="mod">
          <ac:chgData name="ANUSIYADEVI A" userId="1db4a747b80733f9" providerId="LiveId" clId="{613B7479-9F7D-45E7-952B-1F49DB3B7CB1}" dt="2025-11-21T08:14:06.346" v="227" actId="2711"/>
          <ac:spMkLst>
            <pc:docMk/>
            <pc:sldMk cId="851116308" sldId="264"/>
            <ac:spMk id="2" creationId="{9B110790-9311-2C36-0863-94969A4E09EB}"/>
          </ac:spMkLst>
        </pc:spChg>
        <pc:spChg chg="mod">
          <ac:chgData name="ANUSIYADEVI A" userId="1db4a747b80733f9" providerId="LiveId" clId="{613B7479-9F7D-45E7-952B-1F49DB3B7CB1}" dt="2025-11-21T08:15:16.164" v="240" actId="14100"/>
          <ac:spMkLst>
            <pc:docMk/>
            <pc:sldMk cId="851116308" sldId="264"/>
            <ac:spMk id="3" creationId="{F82B719B-BAF5-A304-BF5C-7C19992178C0}"/>
          </ac:spMkLst>
        </pc:spChg>
      </pc:sldChg>
      <pc:sldChg chg="modSp new mod">
        <pc:chgData name="ANUSIYADEVI A" userId="1db4a747b80733f9" providerId="LiveId" clId="{613B7479-9F7D-45E7-952B-1F49DB3B7CB1}" dt="2025-11-21T08:17:15.679" v="265" actId="12"/>
        <pc:sldMkLst>
          <pc:docMk/>
          <pc:sldMk cId="3233198975" sldId="265"/>
        </pc:sldMkLst>
        <pc:spChg chg="mod">
          <ac:chgData name="ANUSIYADEVI A" userId="1db4a747b80733f9" providerId="LiveId" clId="{613B7479-9F7D-45E7-952B-1F49DB3B7CB1}" dt="2025-11-21T08:16:10.392" v="251" actId="14100"/>
          <ac:spMkLst>
            <pc:docMk/>
            <pc:sldMk cId="3233198975" sldId="265"/>
            <ac:spMk id="2" creationId="{EFB83CC5-D5E2-19EF-F8D7-509D424D6E1C}"/>
          </ac:spMkLst>
        </pc:spChg>
        <pc:spChg chg="mod">
          <ac:chgData name="ANUSIYADEVI A" userId="1db4a747b80733f9" providerId="LiveId" clId="{613B7479-9F7D-45E7-952B-1F49DB3B7CB1}" dt="2025-11-21T08:17:15.679" v="265" actId="12"/>
          <ac:spMkLst>
            <pc:docMk/>
            <pc:sldMk cId="3233198975" sldId="265"/>
            <ac:spMk id="3" creationId="{78826805-9440-8573-9B59-11D98ED24743}"/>
          </ac:spMkLst>
        </pc:spChg>
      </pc:sldChg>
      <pc:sldChg chg="modSp new mod">
        <pc:chgData name="ANUSIYADEVI A" userId="1db4a747b80733f9" providerId="LiveId" clId="{613B7479-9F7D-45E7-952B-1F49DB3B7CB1}" dt="2025-11-21T08:19:03.091" v="286" actId="12"/>
        <pc:sldMkLst>
          <pc:docMk/>
          <pc:sldMk cId="4037584023" sldId="266"/>
        </pc:sldMkLst>
        <pc:spChg chg="mod">
          <ac:chgData name="ANUSIYADEVI A" userId="1db4a747b80733f9" providerId="LiveId" clId="{613B7479-9F7D-45E7-952B-1F49DB3B7CB1}" dt="2025-11-21T08:18:10.418" v="275" actId="14100"/>
          <ac:spMkLst>
            <pc:docMk/>
            <pc:sldMk cId="4037584023" sldId="266"/>
            <ac:spMk id="2" creationId="{62705FD2-CE92-0719-7C0F-9DDAED754057}"/>
          </ac:spMkLst>
        </pc:spChg>
        <pc:spChg chg="mod">
          <ac:chgData name="ANUSIYADEVI A" userId="1db4a747b80733f9" providerId="LiveId" clId="{613B7479-9F7D-45E7-952B-1F49DB3B7CB1}" dt="2025-11-21T08:19:03.091" v="286" actId="12"/>
          <ac:spMkLst>
            <pc:docMk/>
            <pc:sldMk cId="4037584023" sldId="266"/>
            <ac:spMk id="3" creationId="{B914A15D-C7E3-85D0-03F0-BA47BC4B52C0}"/>
          </ac:spMkLst>
        </pc:spChg>
      </pc:sldChg>
      <pc:sldChg chg="modSp new mod">
        <pc:chgData name="ANUSIYADEVI A" userId="1db4a747b80733f9" providerId="LiveId" clId="{613B7479-9F7D-45E7-952B-1F49DB3B7CB1}" dt="2025-11-21T08:21:20.910" v="303" actId="12"/>
        <pc:sldMkLst>
          <pc:docMk/>
          <pc:sldMk cId="3727051473" sldId="267"/>
        </pc:sldMkLst>
        <pc:spChg chg="mod">
          <ac:chgData name="ANUSIYADEVI A" userId="1db4a747b80733f9" providerId="LiveId" clId="{613B7479-9F7D-45E7-952B-1F49DB3B7CB1}" dt="2025-11-21T08:20:04.094" v="295" actId="14100"/>
          <ac:spMkLst>
            <pc:docMk/>
            <pc:sldMk cId="3727051473" sldId="267"/>
            <ac:spMk id="2" creationId="{C86DF711-1F63-8A09-4482-4A39B45ADF6F}"/>
          </ac:spMkLst>
        </pc:spChg>
        <pc:spChg chg="mod">
          <ac:chgData name="ANUSIYADEVI A" userId="1db4a747b80733f9" providerId="LiveId" clId="{613B7479-9F7D-45E7-952B-1F49DB3B7CB1}" dt="2025-11-21T08:21:20.910" v="303" actId="12"/>
          <ac:spMkLst>
            <pc:docMk/>
            <pc:sldMk cId="3727051473" sldId="267"/>
            <ac:spMk id="3" creationId="{64BEE192-4E7A-D28E-76C6-FE390369A1D2}"/>
          </ac:spMkLst>
        </pc:spChg>
      </pc:sldChg>
      <pc:sldChg chg="modSp new mod">
        <pc:chgData name="ANUSIYADEVI A" userId="1db4a747b80733f9" providerId="LiveId" clId="{613B7479-9F7D-45E7-952B-1F49DB3B7CB1}" dt="2025-11-21T08:23:03.897" v="323" actId="12"/>
        <pc:sldMkLst>
          <pc:docMk/>
          <pc:sldMk cId="1575825365" sldId="268"/>
        </pc:sldMkLst>
        <pc:spChg chg="mod">
          <ac:chgData name="ANUSIYADEVI A" userId="1db4a747b80733f9" providerId="LiveId" clId="{613B7479-9F7D-45E7-952B-1F49DB3B7CB1}" dt="2025-11-21T08:22:05.979" v="313" actId="14100"/>
          <ac:spMkLst>
            <pc:docMk/>
            <pc:sldMk cId="1575825365" sldId="268"/>
            <ac:spMk id="2" creationId="{42D8A8C0-E1BD-DB39-EA1C-658CD857C6E4}"/>
          </ac:spMkLst>
        </pc:spChg>
        <pc:spChg chg="mod">
          <ac:chgData name="ANUSIYADEVI A" userId="1db4a747b80733f9" providerId="LiveId" clId="{613B7479-9F7D-45E7-952B-1F49DB3B7CB1}" dt="2025-11-21T08:23:03.897" v="323" actId="12"/>
          <ac:spMkLst>
            <pc:docMk/>
            <pc:sldMk cId="1575825365" sldId="268"/>
            <ac:spMk id="3" creationId="{729C7E6A-A66B-C00A-6FD7-3D66B9CA0501}"/>
          </ac:spMkLst>
        </pc:spChg>
      </pc:sldChg>
      <pc:sldChg chg="modSp new mod">
        <pc:chgData name="ANUSIYADEVI A" userId="1db4a747b80733f9" providerId="LiveId" clId="{613B7479-9F7D-45E7-952B-1F49DB3B7CB1}" dt="2025-11-21T08:24:40.817" v="344" actId="12"/>
        <pc:sldMkLst>
          <pc:docMk/>
          <pc:sldMk cId="351913664" sldId="269"/>
        </pc:sldMkLst>
        <pc:spChg chg="mod">
          <ac:chgData name="ANUSIYADEVI A" userId="1db4a747b80733f9" providerId="LiveId" clId="{613B7479-9F7D-45E7-952B-1F49DB3B7CB1}" dt="2025-11-21T08:23:53.291" v="335" actId="14100"/>
          <ac:spMkLst>
            <pc:docMk/>
            <pc:sldMk cId="351913664" sldId="269"/>
            <ac:spMk id="2" creationId="{D475D901-2B6D-2DFD-404B-076252FA7D5F}"/>
          </ac:spMkLst>
        </pc:spChg>
        <pc:spChg chg="mod">
          <ac:chgData name="ANUSIYADEVI A" userId="1db4a747b80733f9" providerId="LiveId" clId="{613B7479-9F7D-45E7-952B-1F49DB3B7CB1}" dt="2025-11-21T08:24:40.817" v="344" actId="12"/>
          <ac:spMkLst>
            <pc:docMk/>
            <pc:sldMk cId="351913664" sldId="269"/>
            <ac:spMk id="3" creationId="{88C3D5DA-1D35-7689-F53F-0B3CAA47A86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47415-6E96-4F48-A41E-D54EAB5BCFB6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9A691-97E3-4371-B11E-7A3221E3ED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6429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47415-6E96-4F48-A41E-D54EAB5BCFB6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9A691-97E3-4371-B11E-7A3221E3ED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0992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47415-6E96-4F48-A41E-D54EAB5BCFB6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9A691-97E3-4371-B11E-7A3221E3ED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7370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47415-6E96-4F48-A41E-D54EAB5BCFB6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9A691-97E3-4371-B11E-7A3221E3ED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7396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47415-6E96-4F48-A41E-D54EAB5BCFB6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9A691-97E3-4371-B11E-7A3221E3ED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0872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47415-6E96-4F48-A41E-D54EAB5BCFB6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9A691-97E3-4371-B11E-7A3221E3ED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4734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47415-6E96-4F48-A41E-D54EAB5BCFB6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9A691-97E3-4371-B11E-7A3221E3ED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7879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47415-6E96-4F48-A41E-D54EAB5BCFB6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9A691-97E3-4371-B11E-7A3221E3ED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9527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47415-6E96-4F48-A41E-D54EAB5BCFB6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9A691-97E3-4371-B11E-7A3221E3ED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8029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47415-6E96-4F48-A41E-D54EAB5BCFB6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9A691-97E3-4371-B11E-7A3221E3ED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0357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47415-6E96-4F48-A41E-D54EAB5BCFB6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9A691-97E3-4371-B11E-7A3221E3ED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64254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47415-6E96-4F48-A41E-D54EAB5BCFB6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9A691-97E3-4371-B11E-7A3221E3ED33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239901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47415-6E96-4F48-A41E-D54EAB5BCFB6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9A691-97E3-4371-B11E-7A3221E3ED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80316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47415-6E96-4F48-A41E-D54EAB5BCFB6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9A691-97E3-4371-B11E-7A3221E3ED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71159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47415-6E96-4F48-A41E-D54EAB5BCFB6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9A691-97E3-4371-B11E-7A3221E3ED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13104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47415-6E96-4F48-A41E-D54EAB5BCFB6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9A691-97E3-4371-B11E-7A3221E3ED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4684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47415-6E96-4F48-A41E-D54EAB5BCFB6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9A691-97E3-4371-B11E-7A3221E3ED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3715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847415-6E96-4F48-A41E-D54EAB5BCFB6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F9A691-97E3-4371-B11E-7A3221E3ED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38379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5D89E-17F6-4F10-A6D7-EBBD7EF5A9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8609"/>
            <a:ext cx="11919857" cy="646330"/>
          </a:xfrm>
        </p:spPr>
        <p:txBody>
          <a:bodyPr>
            <a:normAutofit/>
          </a:bodyPr>
          <a:lstStyle/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What is the average number of orders per customer? Are there high-value repeat customers? 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1FEE4D-5151-A797-E879-FEA0949214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7456" y="1371600"/>
            <a:ext cx="11854543" cy="4517571"/>
          </a:xfrm>
        </p:spPr>
        <p:txBody>
          <a:bodyPr>
            <a:normAutofit/>
          </a:bodyPr>
          <a:lstStyle/>
          <a:p>
            <a:pPr algn="l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of High-Value Repeat Customers</a:t>
            </a:r>
          </a:p>
          <a:p>
            <a:pPr algn="l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analysing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customer-level metrics such as: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Count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Revenue Generated</a:t>
            </a:r>
          </a:p>
          <a:p>
            <a:pPr algn="l"/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order count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 baseline for typical customer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like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SAVEA, ERNSH, QUICK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high-value repeat customers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meaning they order frequently and generate the highest revenue.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customers are ideal targets for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loyalty programs, personalized promotions, and retention strategies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721B841-A3A1-B7A9-EE8A-15BF5CBE09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1984637"/>
              </p:ext>
            </p:extLst>
          </p:nvPr>
        </p:nvGraphicFramePr>
        <p:xfrm>
          <a:off x="3657599" y="1371600"/>
          <a:ext cx="8262258" cy="1463040"/>
        </p:xfrm>
        <a:graphic>
          <a:graphicData uri="http://schemas.openxmlformats.org/drawingml/2006/table">
            <a:tbl>
              <a:tblPr/>
              <a:tblGrid>
                <a:gridCol w="2754086">
                  <a:extLst>
                    <a:ext uri="{9D8B030D-6E8A-4147-A177-3AD203B41FA5}">
                      <a16:colId xmlns:a16="http://schemas.microsoft.com/office/drawing/2014/main" val="2444049900"/>
                    </a:ext>
                  </a:extLst>
                </a:gridCol>
                <a:gridCol w="2754086">
                  <a:extLst>
                    <a:ext uri="{9D8B030D-6E8A-4147-A177-3AD203B41FA5}">
                      <a16:colId xmlns:a16="http://schemas.microsoft.com/office/drawing/2014/main" val="2015505883"/>
                    </a:ext>
                  </a:extLst>
                </a:gridCol>
                <a:gridCol w="2754086">
                  <a:extLst>
                    <a:ext uri="{9D8B030D-6E8A-4147-A177-3AD203B41FA5}">
                      <a16:colId xmlns:a16="http://schemas.microsoft.com/office/drawing/2014/main" val="12008298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CustomerID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Orders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Revenue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41005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SAVEA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115,673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82406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ERNSH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113,236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69182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QUICK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117,483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3673550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7091D718-250C-6B3C-44B1-54E08FFAE2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456" y="1871077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2560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C71C1-E2A6-E46B-88B7-BE6233ED2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1999" cy="544286"/>
          </a:xfrm>
        </p:spPr>
        <p:txBody>
          <a:bodyPr>
            <a:normAutofit/>
          </a:bodyPr>
          <a:lstStyle/>
          <a:p>
            <a:pPr algn="l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How do customer order patterns vary by city or country?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598AF-A956-ED1C-D871-9CDBA48621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96686"/>
            <a:ext cx="11267557" cy="50945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whether customers in different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cities or countries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 different ordering behaviors, such as: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frequently they place orders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much revenue they generate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regions have the most active or profitable customers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Analyzing customer order patterns by city or country helps identify: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High-performing regions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prioritize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Growth opportunities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underperforming areas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preferences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linked to geography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forecasting and inventory planning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9602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3CC60-2907-EC5D-3F5E-78A7CE768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1999" cy="903514"/>
          </a:xfrm>
        </p:spPr>
        <p:txBody>
          <a:bodyPr>
            <a:normAutofit/>
          </a:bodyPr>
          <a:lstStyle/>
          <a:p>
            <a:pPr algn="l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Can we cluster customers based on total spend, order count, and preferred categories?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8A4DD-A2D5-1187-10A8-18D70E520E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10343"/>
            <a:ext cx="12192000" cy="55299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determine whether customers can be grouped into meaningful segments based on their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purchasing behavior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such as:</a:t>
            </a: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Spend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(revenue contribution)</a:t>
            </a: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Count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(purchase frequency)</a:t>
            </a: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Preferred Product Categories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(interest patterns)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 helps in identifying distinct customer groups for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targeted marketing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offers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strategy planning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 — customers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clustered effectively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total spend, order count, and preferred categories.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clusters help the business: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customer retention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personalized marketing strategies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buying patterns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sales forecasting and inventory planning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8365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03B26-DF00-4FA2-F901-64513B7B9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1999" cy="979714"/>
          </a:xfrm>
        </p:spPr>
        <p:txBody>
          <a:bodyPr>
            <a:normAutofit/>
          </a:bodyPr>
          <a:lstStyle/>
          <a:p>
            <a:pPr algn="l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Which product categories or products contribute most to order revenue?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BFE35-05D3-2204-BB28-9D3E7BD257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57" y="805543"/>
            <a:ext cx="12083142" cy="60524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which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categories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 the highest revenue.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helps in understanding: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High-performing items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Categories driving profitability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Areas to focus on for marketing, inventory, and strategic decisions</a:t>
            </a:r>
          </a:p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high-revenue products/categories helps improve: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planning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strategies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Category-level decision making</a:t>
            </a:r>
          </a:p>
          <a:p>
            <a:pPr marL="0" indent="0">
              <a:buNone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6758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E6B32-30D0-0880-CF8C-BC0E797B2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07571"/>
          </a:xfrm>
        </p:spPr>
        <p:txBody>
          <a:bodyPr>
            <a:noAutofit/>
          </a:bodyPr>
          <a:lstStyle/>
          <a:p>
            <a:pPr algn="l"/>
            <a:r>
              <a:rPr lang="en-US" sz="1600" dirty="0"/>
              <a:t>5. How frequently do different customer segments place orders?</a:t>
            </a:r>
            <a:br>
              <a:rPr lang="en-US" sz="1600" dirty="0"/>
            </a:br>
            <a:endParaRPr lang="en-IN" sz="1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0E922-492C-17DC-65D6-A6D5E7959A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57" y="870857"/>
            <a:ext cx="11158700" cy="49203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how often each group of customers (segments) places orders.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helps identify: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Loyal, high-frequency customers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Occasional buyers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Low-engagement customers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Opportunities for targeted marketing</a:t>
            </a:r>
          </a:p>
          <a:p>
            <a:pPr marL="0" indent="0">
              <a:buNone/>
            </a:pPr>
            <a:r>
              <a:rPr lang="en-US" sz="1400" b="1" dirty="0"/>
              <a:t>Conclusion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400" dirty="0"/>
              <a:t>Analyzing order frequency by customer segment helps organizations: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400" dirty="0"/>
              <a:t>Improve customer retention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400" dirty="0"/>
              <a:t>Customize marketing strategies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400" dirty="0"/>
              <a:t>Predict customer lifetime value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400" dirty="0"/>
              <a:t>Plan inventory and sales efforts effectively</a:t>
            </a:r>
          </a:p>
          <a:p>
            <a:pPr marL="0" indent="0">
              <a:buNone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9340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6730B-A375-7FDA-EE2B-FC1F6C8C3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87086"/>
            <a:ext cx="11963401" cy="936172"/>
          </a:xfrm>
        </p:spPr>
        <p:txBody>
          <a:bodyPr>
            <a:normAutofit/>
          </a:bodyPr>
          <a:lstStyle/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What is the geographic and title-wise distribution of employees?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5D29B33-73A5-4206-7FD6-21DF43584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23257"/>
            <a:ext cx="11734800" cy="557348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Objective</a:t>
            </a:r>
          </a:p>
          <a:p>
            <a:r>
              <a:rPr lang="en-US" dirty="0"/>
              <a:t>To understand how employees are distributed across:</a:t>
            </a:r>
          </a:p>
          <a:p>
            <a:r>
              <a:rPr lang="en-US" b="1" dirty="0"/>
              <a:t>Geographic locations</a:t>
            </a:r>
            <a:r>
              <a:rPr lang="en-US" dirty="0"/>
              <a:t> (Country/City/Region)</a:t>
            </a:r>
          </a:p>
          <a:p>
            <a:r>
              <a:rPr lang="en-US" b="1" dirty="0"/>
              <a:t>Job titles</a:t>
            </a:r>
            <a:r>
              <a:rPr lang="en-US" dirty="0"/>
              <a:t> (e.g., Sales Representative, Manager, Coordinator)</a:t>
            </a:r>
          </a:p>
          <a:p>
            <a:r>
              <a:rPr lang="en-US" dirty="0"/>
              <a:t>This helps analyze workforce structure, resource allocation, and organizational hierarchy.</a:t>
            </a:r>
          </a:p>
          <a:p>
            <a:pPr marL="0" indent="0">
              <a:buNone/>
            </a:pPr>
            <a:r>
              <a:rPr lang="en-US" b="1" dirty="0"/>
              <a:t>Conclusion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Analyzing order frequency by customer segment helps organizations: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Improve customer retention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Customize marketing strategies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Predict customer lifetime value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Plan inventory and sales efforts effectively</a:t>
            </a:r>
          </a:p>
          <a:p>
            <a:endParaRPr lang="en-US" dirty="0"/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650590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DBCBC-F544-EC80-6EF6-2494EC1A3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5942"/>
            <a:ext cx="12191999" cy="576943"/>
          </a:xfrm>
        </p:spPr>
        <p:txBody>
          <a:bodyPr>
            <a:normAutofit fontScale="90000"/>
          </a:bodyPr>
          <a:lstStyle/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What trends can we observe in hire dates across employee titles?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54A11-CAC4-F71B-ECA6-67CC54829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642257"/>
            <a:ext cx="11854543" cy="601980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Objective</a:t>
            </a:r>
          </a:p>
          <a:p>
            <a:r>
              <a:rPr lang="en-US" dirty="0"/>
              <a:t>To understand patterns in how employees were hired over time and whether certain </a:t>
            </a:r>
            <a:r>
              <a:rPr lang="en-US" b="1" dirty="0"/>
              <a:t>job titles</a:t>
            </a:r>
            <a:r>
              <a:rPr lang="en-US" dirty="0"/>
              <a:t> show specific hiring trends.</a:t>
            </a:r>
          </a:p>
          <a:p>
            <a:pPr marL="0" indent="0">
              <a:buNone/>
            </a:pPr>
            <a:r>
              <a:rPr lang="en-US" b="1" dirty="0"/>
              <a:t>Conclusion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Analyzing hire date trends across titles helps the business understand: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Growth phases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Hiring strategy changes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Workforce evolution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Department-level expansion</a:t>
            </a:r>
          </a:p>
          <a:p>
            <a:pPr marL="0" indent="0">
              <a:buNone/>
            </a:pPr>
            <a:r>
              <a:rPr lang="en-US" dirty="0"/>
              <a:t>This insight supports: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Future workforce planning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Budgeting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Promotion and succession strategies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8006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C7946-F45D-DBD6-77D9-9102D017F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11267556" cy="642256"/>
          </a:xfrm>
        </p:spPr>
        <p:txBody>
          <a:bodyPr>
            <a:normAutofit/>
          </a:bodyPr>
          <a:lstStyle/>
          <a:p>
            <a:pPr algn="l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What patterns exist in employee title and courtesy title distributions?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C2684-2E8E-AF8D-A230-F9F0C6ABD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57" y="642257"/>
            <a:ext cx="11985172" cy="612865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Objective</a:t>
            </a:r>
          </a:p>
          <a:p>
            <a:r>
              <a:rPr lang="en-US" dirty="0"/>
              <a:t>To analyze how employees are distributed based on:</a:t>
            </a:r>
          </a:p>
          <a:p>
            <a:r>
              <a:rPr lang="en-US" b="1" dirty="0"/>
              <a:t>Job Titles</a:t>
            </a:r>
            <a:r>
              <a:rPr lang="en-US" dirty="0"/>
              <a:t> (e.g., Sales Representative, Manager, Coordinator)</a:t>
            </a:r>
          </a:p>
          <a:p>
            <a:r>
              <a:rPr lang="en-US" b="1" dirty="0"/>
              <a:t>Courtesy Titles</a:t>
            </a:r>
            <a:r>
              <a:rPr lang="en-US" dirty="0"/>
              <a:t> (e.g., Mr., Ms., Mrs., Dr.)</a:t>
            </a:r>
          </a:p>
          <a:p>
            <a:r>
              <a:rPr lang="en-US" dirty="0"/>
              <a:t>This helps understand workforce structure, role diversity, and demographic representation.</a:t>
            </a:r>
          </a:p>
          <a:p>
            <a:pPr marL="0" indent="0">
              <a:buNone/>
            </a:pPr>
            <a:r>
              <a:rPr lang="en-US" b="1" dirty="0"/>
              <a:t>Conclusion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Patterns in title and courtesy title distributions provide insights into: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Workforce composition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Diversity within departments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Gender representation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Structural hierarchy</a:t>
            </a:r>
          </a:p>
          <a:p>
            <a:pPr marL="0" indent="0">
              <a:buNone/>
            </a:pPr>
            <a:r>
              <a:rPr lang="en-US" dirty="0"/>
              <a:t>These insights help HR and leadership with: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Hiring decisions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Diversity and inclusion strategies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Training and development plans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7158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10790-9311-2C36-0863-94969A4E0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1999" cy="664028"/>
          </a:xfrm>
        </p:spPr>
        <p:txBody>
          <a:bodyPr>
            <a:normAutofit/>
          </a:bodyPr>
          <a:lstStyle/>
          <a:p>
            <a:pPr algn="l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Are there correlations between product pricing, stock levels, and sales performance?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B719B-BAF5-A304-BF5C-7C1999217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829" y="1088571"/>
            <a:ext cx="11865428" cy="5584371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Objective</a:t>
            </a:r>
          </a:p>
          <a:p>
            <a:r>
              <a:rPr lang="en-US" dirty="0"/>
              <a:t>To determine whether product </a:t>
            </a:r>
            <a:r>
              <a:rPr lang="en-US" b="1" dirty="0"/>
              <a:t>price</a:t>
            </a:r>
            <a:r>
              <a:rPr lang="en-US" dirty="0"/>
              <a:t>, </a:t>
            </a:r>
            <a:r>
              <a:rPr lang="en-US" b="1" dirty="0"/>
              <a:t>available stock</a:t>
            </a:r>
            <a:r>
              <a:rPr lang="en-US" dirty="0"/>
              <a:t>, and </a:t>
            </a:r>
            <a:r>
              <a:rPr lang="en-US" b="1" dirty="0"/>
              <a:t>sales performance</a:t>
            </a:r>
            <a:r>
              <a:rPr lang="en-US" dirty="0"/>
              <a:t> influence each other.</a:t>
            </a:r>
          </a:p>
          <a:p>
            <a:pPr marL="0" indent="0">
              <a:buNone/>
            </a:pPr>
            <a:r>
              <a:rPr lang="en-US" b="1" dirty="0"/>
              <a:t>Conclusion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Yes—meaningful correlations often exist. Understanding these helps optimize </a:t>
            </a:r>
            <a:r>
              <a:rPr lang="en-US" b="1" dirty="0"/>
              <a:t>pricing</a:t>
            </a:r>
            <a:r>
              <a:rPr lang="en-US" dirty="0"/>
              <a:t>, </a:t>
            </a:r>
            <a:r>
              <a:rPr lang="en-US" b="1" dirty="0"/>
              <a:t>inventory management</a:t>
            </a:r>
            <a:r>
              <a:rPr lang="en-US" dirty="0"/>
              <a:t>, and </a:t>
            </a:r>
            <a:r>
              <a:rPr lang="en-US" b="1" dirty="0"/>
              <a:t>sales forecasting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11163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83CC5-D5E2-19EF-F8D7-509D424D6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1999" cy="468086"/>
          </a:xfrm>
        </p:spPr>
        <p:txBody>
          <a:bodyPr>
            <a:normAutofit/>
          </a:bodyPr>
          <a:lstStyle/>
          <a:p>
            <a:pPr algn="l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How does product demand change over months or seasons?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26805-9440-8573-9B59-11D98ED24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286" y="620485"/>
            <a:ext cx="11723914" cy="5900057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Objective</a:t>
            </a:r>
          </a:p>
          <a:p>
            <a:r>
              <a:rPr lang="en-US" dirty="0"/>
              <a:t>To observe how sales vary across months or seasons.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Conclusion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Understanding seasonal demand supports improved </a:t>
            </a:r>
            <a:r>
              <a:rPr lang="en-US" b="1" dirty="0"/>
              <a:t>stock planning</a:t>
            </a:r>
            <a:r>
              <a:rPr lang="en-US" dirty="0"/>
              <a:t>, </a:t>
            </a:r>
            <a:r>
              <a:rPr lang="en-US" b="1" dirty="0"/>
              <a:t>promotion timing</a:t>
            </a:r>
            <a:r>
              <a:rPr lang="en-US" dirty="0"/>
              <a:t>, and </a:t>
            </a:r>
            <a:r>
              <a:rPr lang="en-US" b="1" dirty="0"/>
              <a:t>sales strategies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31989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05FD2-CE92-0719-7C0F-9DDAED754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1999" cy="664028"/>
          </a:xfrm>
        </p:spPr>
        <p:txBody>
          <a:bodyPr>
            <a:normAutofit/>
          </a:bodyPr>
          <a:lstStyle/>
          <a:p>
            <a:pPr algn="l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 Can we identify anomalies in product sales or revenue performance?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4A15D-C7E3-85D0-03F0-BA47BC4B52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629" y="762000"/>
            <a:ext cx="11136928" cy="594360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Objective</a:t>
            </a:r>
          </a:p>
          <a:p>
            <a:r>
              <a:rPr lang="en-US" dirty="0"/>
              <a:t>To detect unusual spikes or drops in product sales.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Conclusion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Yes—anomaly detection helps maintain accurate forecasting and improves operational decision-making.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75840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DF711-1F63-8A09-4482-4A39B45AD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51114"/>
          </a:xfrm>
        </p:spPr>
        <p:txBody>
          <a:bodyPr>
            <a:normAutofit/>
          </a:bodyPr>
          <a:lstStyle/>
          <a:p>
            <a:pPr algn="l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 Are there any regional trends in supplier distribution and pricing?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EE192-4E7A-D28E-76C6-FE390369A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751114"/>
            <a:ext cx="12039599" cy="601980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Objective</a:t>
            </a:r>
          </a:p>
          <a:p>
            <a:r>
              <a:rPr lang="en-US" dirty="0"/>
              <a:t>To analyze whether suppliers vary by </a:t>
            </a:r>
            <a:r>
              <a:rPr lang="en-US" b="1" dirty="0"/>
              <a:t>region</a:t>
            </a:r>
            <a:r>
              <a:rPr lang="en-US" dirty="0"/>
              <a:t> in terms of:</a:t>
            </a:r>
          </a:p>
          <a:p>
            <a:r>
              <a:rPr lang="en-US" dirty="0"/>
              <a:t>Count</a:t>
            </a:r>
          </a:p>
          <a:p>
            <a:r>
              <a:rPr lang="en-US" dirty="0"/>
              <a:t>Pricing levels</a:t>
            </a:r>
          </a:p>
          <a:p>
            <a:r>
              <a:rPr lang="en-US" dirty="0"/>
              <a:t>Product types</a:t>
            </a:r>
          </a:p>
          <a:p>
            <a:pPr marL="0" indent="0">
              <a:buNone/>
            </a:pPr>
            <a:r>
              <a:rPr lang="en-US" b="1" dirty="0"/>
              <a:t>Conclusion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Regional patterns show which areas offer </a:t>
            </a:r>
            <a:r>
              <a:rPr lang="en-US" b="1" dirty="0"/>
              <a:t>cost advantages</a:t>
            </a:r>
            <a:r>
              <a:rPr lang="en-US" dirty="0"/>
              <a:t> and where the company has </a:t>
            </a:r>
            <a:r>
              <a:rPr lang="en-US" b="1" dirty="0"/>
              <a:t>supplier concentration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70514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8A8C0-E1BD-DB39-EA1C-658CD857C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968829"/>
          </a:xfrm>
        </p:spPr>
        <p:txBody>
          <a:bodyPr>
            <a:normAutofit/>
          </a:bodyPr>
          <a:lstStyle/>
          <a:p>
            <a:pPr algn="l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13. How are suppliers distributed across different product categories?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C7E6A-A66B-C00A-6FD7-3D66B9CA0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714" y="849085"/>
            <a:ext cx="11756572" cy="575854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Objective</a:t>
            </a:r>
          </a:p>
          <a:p>
            <a:r>
              <a:rPr lang="en-US" dirty="0"/>
              <a:t>To understand how many suppliers support each product category.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b="1" dirty="0"/>
              <a:t>Conclusion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Category-wise supplier distribution supports smarter </a:t>
            </a:r>
            <a:r>
              <a:rPr lang="en-US" b="1" dirty="0"/>
              <a:t>procurement</a:t>
            </a:r>
            <a:r>
              <a:rPr lang="en-US" dirty="0"/>
              <a:t>, </a:t>
            </a:r>
            <a:r>
              <a:rPr lang="en-US" b="1" dirty="0"/>
              <a:t>risk management</a:t>
            </a:r>
            <a:r>
              <a:rPr lang="en-US" dirty="0"/>
              <a:t>, and </a:t>
            </a:r>
            <a:r>
              <a:rPr lang="en-US" b="1" dirty="0"/>
              <a:t>inventory strategies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58253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5D901-2B6D-2DFD-404B-076252FA7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11267556" cy="914400"/>
          </a:xfrm>
        </p:spPr>
        <p:txBody>
          <a:bodyPr>
            <a:normAutofit/>
          </a:bodyPr>
          <a:lstStyle/>
          <a:p>
            <a:pPr algn="l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14. How do supplier pricing and categories relate across different regions?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3D5DA-1D35-7689-F53F-0B3CAA47A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171" y="914401"/>
            <a:ext cx="11811000" cy="561702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Objective</a:t>
            </a:r>
          </a:p>
          <a:p>
            <a:r>
              <a:rPr lang="en-US" dirty="0"/>
              <a:t>To see how </a:t>
            </a:r>
            <a:r>
              <a:rPr lang="en-US" b="1" dirty="0"/>
              <a:t>supplier prices</a:t>
            </a:r>
            <a:r>
              <a:rPr lang="en-US" dirty="0"/>
              <a:t> vary by </a:t>
            </a:r>
            <a:r>
              <a:rPr lang="en-US" b="1" dirty="0"/>
              <a:t>category</a:t>
            </a:r>
            <a:r>
              <a:rPr lang="en-US" dirty="0"/>
              <a:t> and </a:t>
            </a:r>
            <a:r>
              <a:rPr lang="en-US" b="1" dirty="0"/>
              <a:t>region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b="1" dirty="0"/>
              <a:t>Conclusion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Understanding pricing and category relationships across regions supports </a:t>
            </a:r>
            <a:r>
              <a:rPr lang="en-US" b="1" dirty="0"/>
              <a:t>strategic sourcing</a:t>
            </a:r>
            <a:r>
              <a:rPr lang="en-US" dirty="0"/>
              <a:t> and </a:t>
            </a:r>
            <a:r>
              <a:rPr lang="en-US" b="1" dirty="0"/>
              <a:t>cost optimization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9136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49</TotalTime>
  <Words>945</Words>
  <Application>Microsoft Office PowerPoint</Application>
  <PresentationFormat>Widescreen</PresentationFormat>
  <Paragraphs>149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Bookman Old Style</vt:lpstr>
      <vt:lpstr>Rockwell</vt:lpstr>
      <vt:lpstr>Times New Roman</vt:lpstr>
      <vt:lpstr>Wingdings</vt:lpstr>
      <vt:lpstr>Damask</vt:lpstr>
      <vt:lpstr>1. What is the average number of orders per customer? Are there high-value repeat customers? </vt:lpstr>
      <vt:lpstr>2. How do customer order patterns vary by city or country? </vt:lpstr>
      <vt:lpstr>3. Can we cluster customers based on total spend, order count, and preferred categories?</vt:lpstr>
      <vt:lpstr>4. Which product categories or products contribute most to order revenue? </vt:lpstr>
      <vt:lpstr>5. How frequently do different customer segments place orders? </vt:lpstr>
      <vt:lpstr>6. What is the geographic and title-wise distribution of employees?</vt:lpstr>
      <vt:lpstr>7. What trends can we observe in hire dates across employee titles?  </vt:lpstr>
      <vt:lpstr>8. What patterns exist in employee title and courtesy title distributions?</vt:lpstr>
      <vt:lpstr>9. Are there correlations between product pricing, stock levels, and sales performance?</vt:lpstr>
      <vt:lpstr>10. How does product demand change over months or seasons?</vt:lpstr>
      <vt:lpstr>11. Can we identify anomalies in product sales or revenue performance?</vt:lpstr>
      <vt:lpstr>12. Are there any regional trends in supplier distribution and pricing?</vt:lpstr>
      <vt:lpstr>13. How are suppliers distributed across different product categories?</vt:lpstr>
      <vt:lpstr>14. How do supplier pricing and categories relate across different regions?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ANUSIYADEVI A</dc:creator>
  <cp:lastModifiedBy>ANUSIYADEVI A</cp:lastModifiedBy>
  <cp:revision>1</cp:revision>
  <dcterms:created xsi:type="dcterms:W3CDTF">2025-11-21T05:10:45Z</dcterms:created>
  <dcterms:modified xsi:type="dcterms:W3CDTF">2025-11-21T08:24:43Z</dcterms:modified>
</cp:coreProperties>
</file>